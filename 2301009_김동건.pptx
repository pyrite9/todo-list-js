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4.gif" ContentType="image/gif"/>
  <Override PartName="/ppt/media/image2.gif" ContentType="image/gif"/>
  <Override PartName="/ppt/media/image3.gif" ContentType="image/gif"/>
  <Override PartName="/ppt/media/image5.gif" ContentType="image/gi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F68CC331-D6CE-41CB-BF79-7CC0D6EB5A5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C40023-168A-4F11-AF52-62554E81F4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EABDBE-D5C9-4A11-B070-281F44D160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BEE74A-89C7-4874-A775-BBAFFEDF9D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7A6C74-C635-4093-86A5-AB8C25D8E5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F11F8B-2331-490E-9827-34E5152ECE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A52669-F6F0-49E6-A4C4-2EA04D3EF2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1AD0A4-B4F3-4A13-957B-FD37C4869F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5935F2-B483-4493-8566-833A4E2B8E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12C920-23B9-473A-94AB-B7CF59AEDB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2F61DD-7C8A-4B10-AEDF-8DE8127E65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FEABC2-0D08-44C3-BDB5-469EF3D1B5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B3B94C-2F15-46FA-991F-0CDFCF0A21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D43085-3C7E-4645-BEA8-ECAC8EEFB0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FE86EA-5675-49AB-8C6F-CF7CB65A07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ithub.com/Pyrite9/todo-list-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github.com/Pyrite9/todo-list-js" TargetMode="External"/><Relationship Id="rId2" Type="http://schemas.openxmlformats.org/officeDocument/2006/relationships/hyperlink" Target="https://pyrite9.github.io/todo-list-j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858000" y="-1371600"/>
            <a:ext cx="3656880" cy="365688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498080" y="3474720"/>
            <a:ext cx="2285280" cy="2285280"/>
          </a:xfrm>
          <a:prstGeom prst="ellipse">
            <a:avLst/>
          </a:prstGeom>
          <a:solidFill>
            <a:srgbClr val="5EEAD4">
              <a:alpha val="20000"/>
            </a:srgbClr>
          </a:solidFill>
          <a:ln w="12700">
            <a:solidFill>
              <a:srgbClr val="5EE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8640" y="548640"/>
            <a:ext cx="136440" cy="136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0" tIns="45000" rIns="684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45720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PROJECT REPORT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1645920"/>
            <a:ext cx="73144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todo-list-js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274320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Vanilla JavaScript</a:t>
            </a:r>
            <a:r>
              <a:rPr lang="ko-KR" sz="18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로 구현한 인터랙티브 </a:t>
            </a:r>
            <a:r>
              <a:rPr lang="en-US" sz="18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ToDo List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48640" y="4389120"/>
            <a:ext cx="36000" cy="456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31520" y="4370760"/>
            <a:ext cx="6400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2301009 _ 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김동건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1"/>
              </a:rPr>
              <a:t>github.com/Pyrite9/todo-list-js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8503920" y="27432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48640" y="4114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CONTENTS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Text 2"/>
          <p:cNvSpPr/>
          <p:nvPr/>
        </p:nvSpPr>
        <p:spPr>
          <a:xfrm>
            <a:off x="548640" y="7315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목차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548640" y="1656720"/>
            <a:ext cx="36360" cy="447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" name="Text 4"/>
          <p:cNvSpPr/>
          <p:nvPr/>
        </p:nvSpPr>
        <p:spPr>
          <a:xfrm>
            <a:off x="777240" y="162936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Text 5"/>
          <p:cNvSpPr/>
          <p:nvPr/>
        </p:nvSpPr>
        <p:spPr>
          <a:xfrm>
            <a:off x="1554480" y="165672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프로젝트 개요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사용한 기술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" name="Text 6"/>
          <p:cNvSpPr/>
          <p:nvPr/>
        </p:nvSpPr>
        <p:spPr>
          <a:xfrm>
            <a:off x="7589520" y="162936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p.03-04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777240" y="2214360"/>
            <a:ext cx="809244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548640" y="2324160"/>
            <a:ext cx="36360" cy="447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Text 9"/>
          <p:cNvSpPr/>
          <p:nvPr/>
        </p:nvSpPr>
        <p:spPr>
          <a:xfrm>
            <a:off x="777240" y="229680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1554480" y="232416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DEMO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메인 화면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 4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가지 기능 시연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7589520" y="229680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p.05-09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777240" y="2881800"/>
            <a:ext cx="809244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548640" y="2991960"/>
            <a:ext cx="36360" cy="447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777240" y="296424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1554480" y="299196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IMPLEMENTATION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데이터 구조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인덱스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ID 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전략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7589520" y="296424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p.10-11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777240" y="3549600"/>
            <a:ext cx="809244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" name="Shape 18"/>
          <p:cNvSpPr/>
          <p:nvPr/>
        </p:nvSpPr>
        <p:spPr>
          <a:xfrm>
            <a:off x="548640" y="3659400"/>
            <a:ext cx="36360" cy="447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777240" y="363204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1554480" y="365940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TROUBLESHOOTING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빈 입력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무한 리렌더링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인라인 수정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· 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입력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escape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" name="Text 21"/>
          <p:cNvSpPr/>
          <p:nvPr/>
        </p:nvSpPr>
        <p:spPr>
          <a:xfrm>
            <a:off x="7589520" y="363204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p.12-15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Shape 22"/>
          <p:cNvSpPr/>
          <p:nvPr/>
        </p:nvSpPr>
        <p:spPr>
          <a:xfrm>
            <a:off x="777240" y="4217040"/>
            <a:ext cx="8092440" cy="360"/>
          </a:xfrm>
          <a:prstGeom prst="line">
            <a:avLst/>
          </a:prstGeom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Shape 23"/>
          <p:cNvSpPr/>
          <p:nvPr/>
        </p:nvSpPr>
        <p:spPr>
          <a:xfrm>
            <a:off x="548640" y="4326840"/>
            <a:ext cx="36360" cy="447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Text 24"/>
          <p:cNvSpPr/>
          <p:nvPr/>
        </p:nvSpPr>
        <p:spPr>
          <a:xfrm>
            <a:off x="777240" y="429948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1554480" y="432684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REFLECTION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배운 점과 소감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7589520" y="4299480"/>
            <a:ext cx="1279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p.16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프로젝트 개요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Text 3"/>
          <p:cNvSpPr/>
          <p:nvPr/>
        </p:nvSpPr>
        <p:spPr>
          <a:xfrm>
            <a:off x="548640" y="155448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브라우저에서 동작하는 인터랙티브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ToDo 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리스트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사용자 입력을 받아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LocalStorage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에 영구 저장하며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추가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완료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수정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삭제 기능을 제공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548640" y="2743200"/>
            <a:ext cx="1873800" cy="12794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548640" y="2743200"/>
            <a:ext cx="1873800" cy="54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Text 6"/>
          <p:cNvSpPr/>
          <p:nvPr/>
        </p:nvSpPr>
        <p:spPr>
          <a:xfrm>
            <a:off x="685800" y="2926080"/>
            <a:ext cx="1599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201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ADD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Text 7"/>
          <p:cNvSpPr/>
          <p:nvPr/>
        </p:nvSpPr>
        <p:spPr>
          <a:xfrm>
            <a:off x="685800" y="3337560"/>
            <a:ext cx="1599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텍스트 입력 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Enter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또는 버튼 클릭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2560320" y="2743200"/>
            <a:ext cx="1873800" cy="12794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2560320" y="2743200"/>
            <a:ext cx="1873800" cy="54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2697480" y="2926080"/>
            <a:ext cx="1599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201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COMPLETE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2697480" y="3337560"/>
            <a:ext cx="1599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체크박스로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완료 상태 토글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Shape 12"/>
          <p:cNvSpPr/>
          <p:nvPr/>
        </p:nvSpPr>
        <p:spPr>
          <a:xfrm>
            <a:off x="4572000" y="2743200"/>
            <a:ext cx="1873800" cy="12794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4572000" y="2743200"/>
            <a:ext cx="1873800" cy="54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4709160" y="2926080"/>
            <a:ext cx="1599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201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EDIT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4709160" y="3337560"/>
            <a:ext cx="1599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텍스트 클릭으로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인라인 수정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Shape 16"/>
          <p:cNvSpPr/>
          <p:nvPr/>
        </p:nvSpPr>
        <p:spPr>
          <a:xfrm>
            <a:off x="6583680" y="2743200"/>
            <a:ext cx="1873800" cy="12794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" name="Shape 17"/>
          <p:cNvSpPr/>
          <p:nvPr/>
        </p:nvSpPr>
        <p:spPr>
          <a:xfrm>
            <a:off x="6583680" y="2743200"/>
            <a:ext cx="1873800" cy="54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Text 18"/>
          <p:cNvSpPr/>
          <p:nvPr/>
        </p:nvSpPr>
        <p:spPr>
          <a:xfrm>
            <a:off x="6720840" y="2926080"/>
            <a:ext cx="1599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201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DELETE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Text 19"/>
          <p:cNvSpPr/>
          <p:nvPr/>
        </p:nvSpPr>
        <p:spPr>
          <a:xfrm>
            <a:off x="6720840" y="3337560"/>
            <a:ext cx="1599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마우스 호버 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삭제 버튼 표시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Shape 20"/>
          <p:cNvSpPr/>
          <p:nvPr/>
        </p:nvSpPr>
        <p:spPr>
          <a:xfrm>
            <a:off x="548640" y="4297680"/>
            <a:ext cx="36000" cy="456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Text 21"/>
          <p:cNvSpPr/>
          <p:nvPr/>
        </p:nvSpPr>
        <p:spPr>
          <a:xfrm>
            <a:off x="731520" y="431604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PERSIST  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모든 변경사항은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LocalStorage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에 자동 저장 → 새로고침 후에도 유지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TECH STACK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사용한 기술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48640" y="1737360"/>
            <a:ext cx="36000" cy="319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Text 4"/>
          <p:cNvSpPr/>
          <p:nvPr/>
        </p:nvSpPr>
        <p:spPr>
          <a:xfrm>
            <a:off x="731520" y="169164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CORE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731520" y="2240280"/>
            <a:ext cx="109080" cy="109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" name="Text 6"/>
          <p:cNvSpPr/>
          <p:nvPr/>
        </p:nvSpPr>
        <p:spPr>
          <a:xfrm>
            <a:off x="960120" y="214884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HTML5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시멘틱 마크업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731520" y="2743200"/>
            <a:ext cx="109080" cy="109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Text 8"/>
          <p:cNvSpPr/>
          <p:nvPr/>
        </p:nvSpPr>
        <p:spPr>
          <a:xfrm>
            <a:off x="960120" y="26517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CSS3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  Flexbox / Transitions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731520" y="3246120"/>
            <a:ext cx="109080" cy="109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960120" y="315468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JavaScript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   Vanilla (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라이브러리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프레임워크 미사용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4937760" y="1737360"/>
            <a:ext cx="36000" cy="319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5120640" y="169164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JAVASCRIPT </a:t>
            </a:r>
            <a:r>
              <a:rPr lang="ko-KR" sz="14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핵심 개념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5120640" y="2240280"/>
            <a:ext cx="109080" cy="109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5349240" y="21488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DOM Manipulation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querySelector, innerHTML, outerHTML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5120640" y="2697480"/>
            <a:ext cx="109080" cy="109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5349240" y="26060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LocalStorage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setItem, getItem (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영구 저장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4" name="Shape 17"/>
          <p:cNvSpPr/>
          <p:nvPr/>
        </p:nvSpPr>
        <p:spPr>
          <a:xfrm>
            <a:off x="5120640" y="3154680"/>
            <a:ext cx="109080" cy="109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5349240" y="30632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stringify, parse (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직렬화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역직렬화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Shape 19"/>
          <p:cNvSpPr/>
          <p:nvPr/>
        </p:nvSpPr>
        <p:spPr>
          <a:xfrm>
            <a:off x="5120640" y="3611880"/>
            <a:ext cx="109080" cy="109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720" tIns="32760" rIns="5472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5349240" y="35204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Event Handling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onclick, onkeydown, onblur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메인 화면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Text 3"/>
          <p:cNvSpPr/>
          <p:nvPr/>
        </p:nvSpPr>
        <p:spPr>
          <a:xfrm>
            <a:off x="548640" y="17373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핵심 </a:t>
            </a:r>
            <a:r>
              <a:rPr lang="en-US" sz="14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UI </a:t>
            </a:r>
            <a:r>
              <a:rPr lang="ko-KR" sz="14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구성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Text 4"/>
          <p:cNvSpPr/>
          <p:nvPr/>
        </p:nvSpPr>
        <p:spPr>
          <a:xfrm>
            <a:off x="548640" y="2194560"/>
            <a:ext cx="2742480" cy="10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입력창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Add 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버튼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할 일 리스트 영역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체크박스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원형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삭제 버튼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호버 시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" name="Text 5"/>
          <p:cNvSpPr/>
          <p:nvPr/>
        </p:nvSpPr>
        <p:spPr>
          <a:xfrm>
            <a:off x="548640" y="37490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디자인 포인트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" name="Text 6"/>
          <p:cNvSpPr/>
          <p:nvPr/>
        </p:nvSpPr>
        <p:spPr>
          <a:xfrm>
            <a:off x="548640" y="4124520"/>
            <a:ext cx="2925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그라데이션 배경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카드형 레이아웃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청록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(#14B8A6)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액센트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5" name="Image 0" descr="/home/claude/ppt_work/preview_cropped.png"/>
          <p:cNvPicPr/>
          <p:nvPr/>
        </p:nvPicPr>
        <p:blipFill>
          <a:blip r:embed="rId1"/>
          <a:stretch/>
        </p:blipFill>
        <p:spPr>
          <a:xfrm>
            <a:off x="4008240" y="1737360"/>
            <a:ext cx="4692600" cy="310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Add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6126480" y="868680"/>
            <a:ext cx="2376720" cy="319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6172200" y="8870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▶ </a:t>
            </a:r>
            <a:r>
              <a:rPr lang="en-US" sz="90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GIF</a:t>
            </a:r>
            <a:r>
              <a:rPr lang="ko-KR" sz="90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는 슬라이드 쇼 모드에서 재생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1143000" y="1508760"/>
            <a:ext cx="6857280" cy="36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02" name="Image 0" descr="https://raw.githubusercontent.com/Pyrite9/todo-list-js/main/readme-image/Add.gif"/>
          <p:cNvPicPr/>
          <p:nvPr/>
        </p:nvPicPr>
        <p:blipFill>
          <a:blip r:embed="rId1"/>
          <a:stretch/>
        </p:blipFill>
        <p:spPr>
          <a:xfrm>
            <a:off x="1143000" y="1600200"/>
            <a:ext cx="6857280" cy="20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Shape 6"/>
          <p:cNvSpPr/>
          <p:nvPr/>
        </p:nvSpPr>
        <p:spPr>
          <a:xfrm>
            <a:off x="548640" y="3903120"/>
            <a:ext cx="36000" cy="273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731520" y="38847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HOW IT WORKS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731520" y="4212000"/>
            <a:ext cx="777168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입력창에 텍스트를 입력하고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Enter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키 또는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Add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버튼 클릭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addTodo()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호출 →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trim()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으로 공백 검증 →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todos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배열에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push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LocalStorage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저장 후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todoDisplay()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재렌더링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Complete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6126480" y="868680"/>
            <a:ext cx="2376720" cy="319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6172200" y="8870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▶ </a:t>
            </a:r>
            <a:r>
              <a:rPr lang="en-US" sz="90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GIF</a:t>
            </a:r>
            <a:r>
              <a:rPr lang="ko-KR" sz="90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는 슬라이드 쇼 모드에서 재생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1143000" y="1508760"/>
            <a:ext cx="6857280" cy="36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12" name="Image 0" descr="https://raw.githubusercontent.com/Pyrite9/todo-list-js/main/readme-image/Complete.gif"/>
          <p:cNvPicPr/>
          <p:nvPr/>
        </p:nvPicPr>
        <p:blipFill>
          <a:blip r:embed="rId1"/>
          <a:stretch/>
        </p:blipFill>
        <p:spPr>
          <a:xfrm>
            <a:off x="1143000" y="1600200"/>
            <a:ext cx="6857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Shape 6"/>
          <p:cNvSpPr/>
          <p:nvPr/>
        </p:nvSpPr>
        <p:spPr>
          <a:xfrm>
            <a:off x="548640" y="3080880"/>
            <a:ext cx="36000" cy="273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731520" y="30628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HOW IT WORKS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731520" y="3229560"/>
            <a:ext cx="77716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체크박스 클릭으로 완료 상태 토글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toggleDone(i)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호출 → 해당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todo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객체의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done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속성을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invert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취소선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+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회색 스타일은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CSS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의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.done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클래스가 자동 적용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Edit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6126480" y="868680"/>
            <a:ext cx="2376720" cy="319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6172200" y="8870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▶ </a:t>
            </a:r>
            <a:r>
              <a:rPr lang="en-US" sz="90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GIF</a:t>
            </a:r>
            <a:r>
              <a:rPr lang="ko-KR" sz="90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는 슬라이드 쇼 모드에서 재생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1143000" y="1508760"/>
            <a:ext cx="6857280" cy="36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22" name="Image 0" descr="https://raw.githubusercontent.com/Pyrite9/todo-list-js/main/readme-image/Edit.gif"/>
          <p:cNvPicPr/>
          <p:nvPr/>
        </p:nvPicPr>
        <p:blipFill>
          <a:blip r:embed="rId1"/>
          <a:stretch/>
        </p:blipFill>
        <p:spPr>
          <a:xfrm>
            <a:off x="1143000" y="1600200"/>
            <a:ext cx="6857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8"/>
          <p:cNvSpPr/>
          <p:nvPr/>
        </p:nvSpPr>
        <p:spPr>
          <a:xfrm>
            <a:off x="731520" y="3229560"/>
            <a:ext cx="77716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텍스트 클릭 시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span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이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input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으로 전환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(outerHTML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교체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Enter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키 입력 또는 포커스 이탈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(blur)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시 자동 저장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공백 입력 시 무시하고 원래 텍스트로 복원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Shape 18"/>
          <p:cNvSpPr/>
          <p:nvPr/>
        </p:nvSpPr>
        <p:spPr>
          <a:xfrm>
            <a:off x="549000" y="3081240"/>
            <a:ext cx="36000" cy="273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" name="Text 22"/>
          <p:cNvSpPr/>
          <p:nvPr/>
        </p:nvSpPr>
        <p:spPr>
          <a:xfrm>
            <a:off x="731880" y="30632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HOW IT WORKS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Delete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6126480" y="868680"/>
            <a:ext cx="2376720" cy="319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6172200" y="8870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▶ </a:t>
            </a:r>
            <a:r>
              <a:rPr lang="en-US" sz="90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GIF</a:t>
            </a:r>
            <a:r>
              <a:rPr lang="ko-KR" sz="900" b="0" u="none" strike="noStrike">
                <a:solidFill>
                  <a:srgbClr val="92400E"/>
                </a:solidFill>
                <a:effectLst/>
                <a:uFillTx/>
                <a:latin typeface="Calibri"/>
                <a:ea typeface="Calibri"/>
              </a:rPr>
              <a:t>는 슬라이드 쇼 모드에서 재생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1143000" y="1508760"/>
            <a:ext cx="6857280" cy="36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132" name="Image 0" descr="https://raw.githubusercontent.com/Pyrite9/todo-list-js/main/readme-image/Delete.gif"/>
          <p:cNvPicPr/>
          <p:nvPr/>
        </p:nvPicPr>
        <p:blipFill>
          <a:blip r:embed="rId1"/>
          <a:stretch/>
        </p:blipFill>
        <p:spPr>
          <a:xfrm>
            <a:off x="1143000" y="1600200"/>
            <a:ext cx="6857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Shape 6"/>
          <p:cNvSpPr/>
          <p:nvPr/>
        </p:nvSpPr>
        <p:spPr>
          <a:xfrm>
            <a:off x="548640" y="3080880"/>
            <a:ext cx="36000" cy="273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731520" y="30628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HOW IT WORKS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731520" y="3229560"/>
            <a:ext cx="77716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task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에 마우스 호버 시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X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버튼이 페이드 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deleteTodo(i)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호출 →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splice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로 배열에서 해당 항목 제거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opacity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기반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transition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으로 부드러운 페이드 인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아웃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IMPLEMENTATION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데이터 구조와 영구 저장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548640" y="15087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모든 할 일은 객체 배열로 관리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변경 시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JSON 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직렬화 후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LocalStorage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에 저장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548640" y="2011680"/>
            <a:ext cx="5028480" cy="2102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731520" y="2103120"/>
            <a:ext cx="475416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EEAD4"/>
                </a:solidFill>
                <a:effectLst/>
                <a:uFillTx/>
                <a:latin typeface="Consolas"/>
                <a:ea typeface="Consolas"/>
              </a:rPr>
              <a:t>todos </a:t>
            </a: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= [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{ text: 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ko-KR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할 일 내용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, done: </a:t>
            </a:r>
            <a:r>
              <a:rPr lang="en-US" sz="1100" b="0" u="none" strike="noStrike">
                <a:solidFill>
                  <a:srgbClr val="FCD34D"/>
                </a:solidFill>
                <a:effectLst/>
                <a:uFillTx/>
                <a:latin typeface="Consolas"/>
                <a:ea typeface="Consolas"/>
              </a:rPr>
              <a:t>false</a:t>
            </a: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},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{ text: 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ko-KR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완료된 할 일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, done: </a:t>
            </a:r>
            <a:r>
              <a:rPr lang="en-US" sz="1100" b="0" u="none" strike="noStrike">
                <a:solidFill>
                  <a:srgbClr val="FCD34D"/>
                </a:solidFill>
                <a:effectLst/>
                <a:uFillTx/>
                <a:latin typeface="Consolas"/>
                <a:ea typeface="Consolas"/>
              </a:rPr>
              <a:t>true</a:t>
            </a: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3C5FD"/>
                </a:solidFill>
                <a:effectLst/>
                <a:uFillTx/>
                <a:latin typeface="Consolas"/>
                <a:ea typeface="Consolas"/>
              </a:rPr>
              <a:t>localStorage</a:t>
            </a: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.setItem(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"todo"</a:t>
            </a: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, JSON.stringify(todos));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5852160" y="201168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KEY POINTS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5852160" y="2439720"/>
            <a:ext cx="3108240" cy="14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객체 단위 관리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각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task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는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text + done 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두 속성을 가진 객체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JSON </a:t>
            </a:r>
            <a:r>
              <a:rPr lang="ko-KR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직렬화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stringify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로 문자열 변환 후 저장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안전한 초기화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parse(getItem) || []  →  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빈 배열로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fallback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548640" y="4434840"/>
            <a:ext cx="8320320" cy="5022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731520" y="4480560"/>
            <a:ext cx="81374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DATA FLOW  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User Action  →  todos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배열 수정  → 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LocalStorage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저장  → 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todoDisplay()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재렌더링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IMPLEMENTATION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인덱스 기반 </a:t>
            </a: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ID </a:t>
            </a: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전략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548640" y="15087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프로젝트의 핵심 설계 결정 — 배열과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DOM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을 인덱스로 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1:1 </a:t>
            </a:r>
            <a:r>
              <a:rPr lang="ko-KR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매핑</a:t>
            </a: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548640" y="2011680"/>
            <a:ext cx="8320320" cy="1690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731520" y="2103120"/>
            <a:ext cx="804600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4B5FD"/>
                </a:solidFill>
                <a:effectLst/>
                <a:uFillTx/>
                <a:latin typeface="Consolas"/>
                <a:ea typeface="Consolas"/>
              </a:rPr>
              <a:t>for </a:t>
            </a: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(let i = 0; i &lt; todos.length; i++) 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html += `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    &lt;div id="todo-item-</a:t>
            </a:r>
            <a:r>
              <a:rPr lang="en-US" sz="1100" b="0" u="none" strike="noStrike">
                <a:solidFill>
                  <a:srgbClr val="FCD34D"/>
                </a:solidFill>
                <a:effectLst/>
                <a:uFillTx/>
                <a:latin typeface="Consolas"/>
                <a:ea typeface="Consolas"/>
              </a:rPr>
              <a:t>${i}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" class="</a:t>
            </a:r>
            <a:r>
              <a:rPr lang="en-US" sz="1100" b="0" u="none" strike="noStrike">
                <a:solidFill>
                  <a:srgbClr val="FCD34D"/>
                </a:solidFill>
                <a:effectLst/>
                <a:uFillTx/>
                <a:latin typeface="Consolas"/>
                <a:ea typeface="Consolas"/>
              </a:rPr>
              <a:t>${todos[i].done ? "done" : ""}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"&gt;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      &lt;input type="checkbox" onclick="toggleDone(</a:t>
            </a:r>
            <a:r>
              <a:rPr lang="en-US" sz="1100" b="0" u="none" strike="noStrike">
                <a:solidFill>
                  <a:srgbClr val="FCD34D"/>
                </a:solidFill>
                <a:effectLst/>
                <a:uFillTx/>
                <a:latin typeface="Consolas"/>
                <a:ea typeface="Consolas"/>
              </a:rPr>
              <a:t>${i}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)"&gt;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      &lt;span onclick="editTodo(</a:t>
            </a:r>
            <a:r>
              <a:rPr lang="en-US" sz="1100" b="0" u="none" strike="noStrike">
                <a:solidFill>
                  <a:srgbClr val="FCD34D"/>
                </a:solidFill>
                <a:effectLst/>
                <a:uFillTx/>
                <a:latin typeface="Consolas"/>
                <a:ea typeface="Consolas"/>
              </a:rPr>
              <a:t>${i}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)"&gt;...&lt;/span&gt;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      &lt;button onclick="deleteTodo(</a:t>
            </a:r>
            <a:r>
              <a:rPr lang="en-US" sz="1100" b="0" u="none" strike="noStrike">
                <a:solidFill>
                  <a:srgbClr val="FCD34D"/>
                </a:solidFill>
                <a:effectLst/>
                <a:uFillTx/>
                <a:latin typeface="Consolas"/>
                <a:ea typeface="Consolas"/>
              </a:rPr>
              <a:t>${i}</a:t>
            </a:r>
            <a:r>
              <a:rPr lang="en-US" sz="1100" b="0" u="none" strike="noStrike">
                <a:solidFill>
                  <a:srgbClr val="FCA5A5"/>
                </a:solidFill>
                <a:effectLst/>
                <a:uFillTx/>
                <a:latin typeface="Consolas"/>
                <a:ea typeface="Consolas"/>
              </a:rPr>
              <a:t>)"&gt;X&lt;/button&gt;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    &lt;/div&gt;`;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548640" y="3840480"/>
            <a:ext cx="2696760" cy="9136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548640" y="3840480"/>
            <a:ext cx="45000" cy="913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2680" tIns="45000" rIns="226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731520" y="393192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객체 지정 가능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731520" y="425196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어떤 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task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인지 함수에 정확히 전달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3364920" y="3840480"/>
            <a:ext cx="2696760" cy="9136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3364920" y="3840480"/>
            <a:ext cx="45000" cy="913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2680" tIns="45000" rIns="226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3547800" y="393192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단일 진리원천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3547800" y="425196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todos 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배열이 유일한 상태 보유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6181200" y="3840480"/>
            <a:ext cx="2696760" cy="9136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1" name="Shape 15"/>
          <p:cNvSpPr/>
          <p:nvPr/>
        </p:nvSpPr>
        <p:spPr>
          <a:xfrm>
            <a:off x="6181200" y="3840480"/>
            <a:ext cx="45000" cy="913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2680" tIns="45000" rIns="226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6364080" y="3931920"/>
            <a:ext cx="2422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구현 일관성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6364080" y="425196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완료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수정</a:t>
            </a: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삭제 모두 동일 패턴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TROUBLESHOOTING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막힌 부분과 해결 과정 </a:t>
            </a: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(1/4)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548640" y="1691640"/>
            <a:ext cx="8320320" cy="13251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731520" y="1828800"/>
            <a:ext cx="410760" cy="410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731520" y="182880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1280160" y="182880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빈 </a:t>
            </a:r>
            <a:r>
              <a:rPr lang="en-US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task </a:t>
            </a:r>
            <a:r>
              <a:rPr lang="ko-KR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생성 처리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1280160" y="2240280"/>
            <a:ext cx="740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sz="1000" b="1" u="none" strike="noStrike">
                <a:solidFill>
                  <a:srgbClr val="F87171"/>
                </a:solidFill>
                <a:effectLst/>
                <a:uFillTx/>
                <a:latin typeface="Calibri"/>
                <a:ea typeface="Calibri"/>
              </a:rPr>
              <a:t>문제 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공백만 입력해도 빈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task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가 추가됨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sz="10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해결 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MDN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문서에서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String.prototype.trim()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확인 →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trim()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후 빈 문자열 검증으로 차단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548640" y="3154680"/>
            <a:ext cx="8320320" cy="1782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731520" y="3291840"/>
            <a:ext cx="410760" cy="410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731520" y="3291840"/>
            <a:ext cx="410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1280160" y="329184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배열에서 특정 객체를 어떻게 지정할 것인가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1280160" y="3703320"/>
            <a:ext cx="740592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sz="1000" b="1" u="none" strike="noStrike">
                <a:solidFill>
                  <a:srgbClr val="F87171"/>
                </a:solidFill>
                <a:effectLst/>
                <a:uFillTx/>
                <a:latin typeface="Calibri"/>
                <a:ea typeface="Calibri"/>
              </a:rPr>
              <a:t>문제 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완료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수정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삭제 함수가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"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어떤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" task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에 작용할지 정확히 알아야 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ko-KR" sz="10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해결 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for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루프 인덱스를 활용해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div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에 가변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id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부여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(todo-item-${i})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  </a:t>
            </a:r>
            <a:r>
              <a:rPr lang="en-US" sz="11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→ 이 결정이 완료</a:t>
            </a:r>
            <a:r>
              <a:rPr lang="en-US" sz="11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1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수정</a:t>
            </a:r>
            <a:r>
              <a:rPr lang="en-US" sz="11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1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삭제 모든 기능의 기반이 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TROUBLESHOOTING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완료 기능 — 무한 리렌더링 </a:t>
            </a: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(2/4)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548640" y="1691640"/>
            <a:ext cx="4022640" cy="3016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548640" y="1691640"/>
            <a:ext cx="4022640" cy="36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31520" y="17830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87171"/>
                </a:solidFill>
                <a:effectLst/>
                <a:uFillTx/>
                <a:latin typeface="Calibri"/>
                <a:ea typeface="Calibri"/>
              </a:rPr>
              <a:t>PROBLEM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731520" y="21031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체크 무한 루프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731520" y="2606040"/>
            <a:ext cx="3656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체크박스에 단순히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"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체크되면 함수 실행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"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로직을 넣음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checked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가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true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가 되는 순간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todoDisplay()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가 실행되어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DOM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전체 재생성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새로 그려진 체크박스는 다시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unchecked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상태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7171"/>
                </a:solidFill>
                <a:effectLst/>
                <a:uFillTx/>
                <a:latin typeface="Calibri"/>
                <a:ea typeface="Calibri"/>
              </a:rPr>
              <a:t>→ 체크가 영원히 적용 안 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4846320" y="1691640"/>
            <a:ext cx="4022640" cy="3016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4846320" y="1691640"/>
            <a:ext cx="4022640" cy="36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5029200" y="17830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SOLUTION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5029200" y="21031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상태 기반 렌더링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5029200" y="2606040"/>
            <a:ext cx="3656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체크박스 클릭 시 객체의 </a:t>
            </a:r>
            <a:r>
              <a:rPr lang="en-US" sz="1100" b="1" u="none" strike="noStrike">
                <a:solidFill>
                  <a:srgbClr val="0F766E"/>
                </a:solidFill>
                <a:effectLst/>
                <a:uFillTx/>
                <a:latin typeface="Consolas"/>
                <a:ea typeface="Consolas"/>
              </a:rPr>
              <a:t>done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속성을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invert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렌더링 시 </a:t>
            </a:r>
            <a:r>
              <a:rPr lang="ko-KR" sz="11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삼항 연산자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로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done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값을 참조해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checked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속성 부여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classList.add/remove </a:t>
            </a:r>
            <a:r>
              <a:rPr lang="ko-KR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호출 없이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1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데이터가 곧 화면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8503920" y="2743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48640" y="411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TROUBLESHOOTING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54864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Edit </a:t>
            </a:r>
            <a:r>
              <a:rPr lang="ko-KR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기능 — 인라인 수정 구현 </a:t>
            </a:r>
            <a:r>
              <a:rPr lang="en-US" sz="32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(3/4)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548640" y="15087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외부 모달은 </a:t>
            </a: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UX </a:t>
            </a:r>
            <a:r>
              <a:rPr lang="ko-KR" sz="12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측면에서 부적절하다고 판단 → 자리에서 직접 편집하는 방식 모색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548640" y="2011680"/>
            <a:ext cx="2696760" cy="2376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731520" y="2148840"/>
            <a:ext cx="242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731520" y="246888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span → input </a:t>
            </a: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전환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731520" y="2971800"/>
            <a:ext cx="365040" cy="26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731520" y="3108960"/>
            <a:ext cx="2422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outerHTML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로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DOM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노드를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통째로 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input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으로 교체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value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에 기존 텍스트 로드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9" name="Shape 9"/>
          <p:cNvSpPr/>
          <p:nvPr/>
        </p:nvSpPr>
        <p:spPr>
          <a:xfrm>
            <a:off x="3383280" y="2011680"/>
            <a:ext cx="2696760" cy="2376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3566160" y="2148840"/>
            <a:ext cx="242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3566160" y="246888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사용자 편집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3566160" y="2971800"/>
            <a:ext cx="365040" cy="26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3566160" y="3108960"/>
            <a:ext cx="2422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input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안에서 자유롭게 수정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Enter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키 입력 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blur()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호출로 포커스 해제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Shape 14"/>
          <p:cNvSpPr/>
          <p:nvPr/>
        </p:nvSpPr>
        <p:spPr>
          <a:xfrm>
            <a:off x="6217920" y="2011680"/>
            <a:ext cx="2696760" cy="2376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6400800" y="2148840"/>
            <a:ext cx="2422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6400800" y="2468880"/>
            <a:ext cx="2422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onblur </a:t>
            </a: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저장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6400800" y="2971800"/>
            <a:ext cx="365040" cy="26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6400800" y="3108960"/>
            <a:ext cx="2422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saveTodo(i, value)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호출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인덱스로 배열 객체 찾아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text </a:t>
            </a:r>
            <a:r>
              <a:rPr lang="ko-KR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갱신 후 재렌더링</a:t>
            </a: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548640" y="4572000"/>
            <a:ext cx="8320320" cy="365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731520" y="459936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INSIGHT   </a:t>
            </a:r>
            <a:r>
              <a:rPr lang="ko-K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인덱스 기반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 </a:t>
            </a:r>
            <a:r>
              <a:rPr lang="ko-K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전략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ko-K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슬라이드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11) </a:t>
            </a:r>
            <a:r>
              <a:rPr lang="ko-K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덕분에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saveTodo(i, val)</a:t>
            </a:r>
            <a:r>
              <a:rPr lang="ko-KR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로 정확한 객체 갱신이 가능했음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8503920" y="274320"/>
            <a:ext cx="45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548640" y="4114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TROUBLESHOOTING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3" name="Text 2"/>
          <p:cNvSpPr/>
          <p:nvPr/>
        </p:nvSpPr>
        <p:spPr>
          <a:xfrm>
            <a:off x="548640" y="7315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28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사용자 입력 — 데이터와 </a:t>
            </a:r>
            <a:r>
              <a:rPr lang="en-US" sz="28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HTML</a:t>
            </a:r>
            <a:r>
              <a:rPr lang="ko-KR" sz="28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의 경계 </a:t>
            </a:r>
            <a:r>
              <a:rPr lang="en-US" sz="28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(4/4)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Shape 3"/>
          <p:cNvSpPr/>
          <p:nvPr/>
        </p:nvSpPr>
        <p:spPr>
          <a:xfrm>
            <a:off x="548640" y="1600200"/>
            <a:ext cx="4023000" cy="16912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5" name="Shape 4"/>
          <p:cNvSpPr/>
          <p:nvPr/>
        </p:nvSpPr>
        <p:spPr>
          <a:xfrm>
            <a:off x="548640" y="1600200"/>
            <a:ext cx="4023000" cy="36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731520" y="16916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F87171"/>
                </a:solidFill>
                <a:effectLst/>
                <a:uFillTx/>
                <a:latin typeface="Calibri"/>
                <a:ea typeface="Calibri"/>
              </a:rPr>
              <a:t>PROBLEM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731520" y="19843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의도하지 않은 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HTML </a:t>
            </a: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해석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731520" y="246888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&lt;div&gt; </a:t>
            </a:r>
            <a:r>
              <a:rPr lang="ko-KR" sz="10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공부</a:t>
            </a: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입력 → 화면에서 사라짐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따옴표 포함 텍스트 → 수정 시 </a:t>
            </a: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input value</a:t>
            </a: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ko-KR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깨짐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87171"/>
                </a:solidFill>
                <a:effectLst/>
                <a:uFillTx/>
                <a:latin typeface="Calibri"/>
                <a:ea typeface="Calibri"/>
              </a:rPr>
              <a:t>→ 사용자 입력이 </a:t>
            </a:r>
            <a:r>
              <a:rPr lang="en-US" sz="1000" b="1" u="none" strike="noStrike">
                <a:solidFill>
                  <a:srgbClr val="F87171"/>
                </a:solidFill>
                <a:effectLst/>
                <a:uFillTx/>
                <a:latin typeface="Calibri"/>
                <a:ea typeface="Calibri"/>
              </a:rPr>
              <a:t>HTML </a:t>
            </a:r>
            <a:r>
              <a:rPr lang="ko-KR" sz="1000" b="1" u="none" strike="noStrike">
                <a:solidFill>
                  <a:srgbClr val="F87171"/>
                </a:solidFill>
                <a:effectLst/>
                <a:uFillTx/>
                <a:latin typeface="Calibri"/>
                <a:ea typeface="Calibri"/>
              </a:rPr>
              <a:t>문자열에 직접 끼워들어가는 구조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9" name="Shape 8"/>
          <p:cNvSpPr/>
          <p:nvPr/>
        </p:nvSpPr>
        <p:spPr>
          <a:xfrm>
            <a:off x="4846320" y="1600200"/>
            <a:ext cx="4023000" cy="16912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0" name="Shape 9"/>
          <p:cNvSpPr/>
          <p:nvPr/>
        </p:nvSpPr>
        <p:spPr>
          <a:xfrm>
            <a:off x="4846320" y="1600200"/>
            <a:ext cx="4023000" cy="36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1" name="Text 10"/>
          <p:cNvSpPr/>
          <p:nvPr/>
        </p:nvSpPr>
        <p:spPr>
          <a:xfrm>
            <a:off x="5029200" y="16916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SOLUTION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Text 11"/>
          <p:cNvSpPr/>
          <p:nvPr/>
        </p:nvSpPr>
        <p:spPr>
          <a:xfrm>
            <a:off x="5029200" y="19843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렌더링 시점에 </a:t>
            </a:r>
            <a:r>
              <a:rPr lang="en-US" sz="1500" b="1" u="none" strike="noStrike">
                <a:solidFill>
                  <a:srgbClr val="1E293B"/>
                </a:solidFill>
                <a:effectLst/>
                <a:uFillTx/>
                <a:latin typeface="Georgia"/>
                <a:ea typeface="Georgia"/>
              </a:rPr>
              <a:t>escape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3" name="Text 12"/>
          <p:cNvSpPr/>
          <p:nvPr/>
        </p:nvSpPr>
        <p:spPr>
          <a:xfrm>
            <a:off x="5029200" y="246888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766E"/>
                </a:solidFill>
                <a:effectLst/>
                <a:uFillTx/>
                <a:latin typeface="Consolas"/>
                <a:ea typeface="Consolas"/>
              </a:rPr>
              <a:t>escapeHtml()</a:t>
            </a: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ko-KR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함수로 </a:t>
            </a: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</a:t>
            </a:r>
            <a:r>
              <a:rPr lang="ko-KR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개 특수문자 변환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&amp; &lt; &gt; " '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원칙</a:t>
            </a: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ko-KR" sz="10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저장은 원본</a:t>
            </a:r>
            <a:r>
              <a:rPr lang="en-US" sz="10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000" b="1" u="none" strike="noStrike">
                <a:solidFill>
                  <a:srgbClr val="0F766E"/>
                </a:solidFill>
                <a:effectLst/>
                <a:uFillTx/>
                <a:latin typeface="Calibri"/>
                <a:ea typeface="Calibri"/>
              </a:rPr>
              <a:t>출력만 가공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todos </a:t>
            </a:r>
            <a:r>
              <a:rPr lang="ko-KR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배열은 그대로</a:t>
            </a: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HTML </a:t>
            </a:r>
            <a:r>
              <a:rPr lang="ko-KR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생성 시점에만 통과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4" name="Shape 13"/>
          <p:cNvSpPr/>
          <p:nvPr/>
        </p:nvSpPr>
        <p:spPr>
          <a:xfrm>
            <a:off x="548640" y="3520440"/>
            <a:ext cx="8320680" cy="1416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25" name="Text 14"/>
          <p:cNvSpPr/>
          <p:nvPr/>
        </p:nvSpPr>
        <p:spPr>
          <a:xfrm>
            <a:off x="731520" y="36118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RENDER FLOW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6" name="Shape 15"/>
          <p:cNvSpPr/>
          <p:nvPr/>
        </p:nvSpPr>
        <p:spPr>
          <a:xfrm>
            <a:off x="777240" y="4023360"/>
            <a:ext cx="1828440" cy="639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822960" y="4096440"/>
            <a:ext cx="1737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F766E"/>
                </a:solidFill>
                <a:effectLst/>
                <a:uFillTx/>
                <a:latin typeface="Consolas"/>
                <a:ea typeface="Consolas"/>
              </a:rPr>
              <a:t>todos[i].text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"&lt;div&gt; </a:t>
            </a:r>
            <a:r>
              <a:rPr lang="ko-KR" sz="10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공부</a:t>
            </a: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777240" y="377640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ko-KR" sz="9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원본 데이터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9" name="Shape 18"/>
          <p:cNvSpPr/>
          <p:nvPr/>
        </p:nvSpPr>
        <p:spPr>
          <a:xfrm>
            <a:off x="2606040" y="4206240"/>
            <a:ext cx="411480" cy="360"/>
          </a:xfrm>
          <a:prstGeom prst="line">
            <a:avLst/>
          </a:prstGeom>
          <a:ln w="19050">
            <a:solidFill>
              <a:srgbClr val="5EE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Shape 19"/>
          <p:cNvSpPr/>
          <p:nvPr/>
        </p:nvSpPr>
        <p:spPr>
          <a:xfrm flipV="1">
            <a:off x="3017520" y="4069080"/>
            <a:ext cx="360" cy="137160"/>
          </a:xfrm>
          <a:prstGeom prst="line">
            <a:avLst/>
          </a:prstGeom>
          <a:ln w="19050">
            <a:solidFill>
              <a:srgbClr val="5EE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1" name="Shape 20"/>
          <p:cNvSpPr/>
          <p:nvPr/>
        </p:nvSpPr>
        <p:spPr>
          <a:xfrm>
            <a:off x="3017520" y="4069080"/>
            <a:ext cx="457200" cy="360"/>
          </a:xfrm>
          <a:prstGeom prst="line">
            <a:avLst/>
          </a:prstGeom>
          <a:ln w="19050">
            <a:solidFill>
              <a:srgbClr val="5EEA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2" name="Shape 21"/>
          <p:cNvSpPr/>
          <p:nvPr/>
        </p:nvSpPr>
        <p:spPr>
          <a:xfrm>
            <a:off x="2606040" y="4480560"/>
            <a:ext cx="411480" cy="360"/>
          </a:xfrm>
          <a:prstGeom prst="line">
            <a:avLst/>
          </a:prstGeom>
          <a:ln w="19050">
            <a:solidFill>
              <a:srgbClr val="5EE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3" name="Shape 22"/>
          <p:cNvSpPr/>
          <p:nvPr/>
        </p:nvSpPr>
        <p:spPr>
          <a:xfrm>
            <a:off x="3017520" y="4480560"/>
            <a:ext cx="360" cy="137160"/>
          </a:xfrm>
          <a:prstGeom prst="line">
            <a:avLst/>
          </a:prstGeom>
          <a:ln w="19050">
            <a:solidFill>
              <a:srgbClr val="5EE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4" name="Shape 23"/>
          <p:cNvSpPr/>
          <p:nvPr/>
        </p:nvSpPr>
        <p:spPr>
          <a:xfrm>
            <a:off x="3017520" y="4617720"/>
            <a:ext cx="457200" cy="360"/>
          </a:xfrm>
          <a:prstGeom prst="line">
            <a:avLst/>
          </a:prstGeom>
          <a:ln w="19050">
            <a:solidFill>
              <a:srgbClr val="5EEA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5" name="Shape 24"/>
          <p:cNvSpPr/>
          <p:nvPr/>
        </p:nvSpPr>
        <p:spPr>
          <a:xfrm>
            <a:off x="3520440" y="3904560"/>
            <a:ext cx="1462680" cy="319680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6" name="Text 25"/>
          <p:cNvSpPr/>
          <p:nvPr/>
        </p:nvSpPr>
        <p:spPr>
          <a:xfrm>
            <a:off x="3520440" y="390456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escapeHtml()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7" name="Shape 26"/>
          <p:cNvSpPr/>
          <p:nvPr/>
        </p:nvSpPr>
        <p:spPr>
          <a:xfrm>
            <a:off x="3520440" y="4462200"/>
            <a:ext cx="1462680" cy="319680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8" name="Text 27"/>
          <p:cNvSpPr/>
          <p:nvPr/>
        </p:nvSpPr>
        <p:spPr>
          <a:xfrm>
            <a:off x="3520440" y="446220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escapeHtml()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9" name="Shape 28"/>
          <p:cNvSpPr/>
          <p:nvPr/>
        </p:nvSpPr>
        <p:spPr>
          <a:xfrm>
            <a:off x="4983480" y="4069080"/>
            <a:ext cx="365760" cy="360"/>
          </a:xfrm>
          <a:prstGeom prst="line">
            <a:avLst/>
          </a:prstGeom>
          <a:ln w="19050">
            <a:solidFill>
              <a:srgbClr val="5EEA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0" name="Shape 29"/>
          <p:cNvSpPr/>
          <p:nvPr/>
        </p:nvSpPr>
        <p:spPr>
          <a:xfrm>
            <a:off x="4983480" y="4617720"/>
            <a:ext cx="365760" cy="360"/>
          </a:xfrm>
          <a:prstGeom prst="line">
            <a:avLst/>
          </a:prstGeom>
          <a:ln w="19050">
            <a:solidFill>
              <a:srgbClr val="5EEAD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1" name="Shape 30"/>
          <p:cNvSpPr/>
          <p:nvPr/>
        </p:nvSpPr>
        <p:spPr>
          <a:xfrm>
            <a:off x="5440680" y="3794760"/>
            <a:ext cx="2788560" cy="548280"/>
          </a:xfrm>
          <a:prstGeom prst="rect">
            <a:avLst/>
          </a:prstGeom>
          <a:solidFill>
            <a:srgbClr val="1E293B"/>
          </a:solidFill>
          <a:ln w="6350">
            <a:solidFill>
              <a:srgbClr val="5EE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2" name="Text 31"/>
          <p:cNvSpPr/>
          <p:nvPr/>
        </p:nvSpPr>
        <p:spPr>
          <a:xfrm>
            <a:off x="5513760" y="3822120"/>
            <a:ext cx="2642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화면 </a:t>
            </a:r>
            <a:r>
              <a:rPr lang="en-US" sz="8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(span) 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&lt;span&gt;&amp;lt;div&amp;gt; </a:t>
            </a:r>
            <a:r>
              <a:rPr lang="ko-KR" sz="9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공부</a:t>
            </a: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&lt;/span&gt;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3" name="Shape 32"/>
          <p:cNvSpPr/>
          <p:nvPr/>
        </p:nvSpPr>
        <p:spPr>
          <a:xfrm>
            <a:off x="5440680" y="4343400"/>
            <a:ext cx="2788560" cy="548280"/>
          </a:xfrm>
          <a:prstGeom prst="rect">
            <a:avLst/>
          </a:prstGeom>
          <a:solidFill>
            <a:srgbClr val="1E293B"/>
          </a:solidFill>
          <a:ln w="6350">
            <a:solidFill>
              <a:srgbClr val="5EE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4" name="Text 33"/>
          <p:cNvSpPr/>
          <p:nvPr/>
        </p:nvSpPr>
        <p:spPr>
          <a:xfrm>
            <a:off x="5513760" y="4370760"/>
            <a:ext cx="2642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화면 </a:t>
            </a:r>
            <a:r>
              <a:rPr lang="en-US" sz="8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(input)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&lt;input value="&amp;quot;hi&amp;quot;"&gt;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-1828800" y="3840480"/>
            <a:ext cx="2742480" cy="274248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6" name="Shape 1"/>
          <p:cNvSpPr/>
          <p:nvPr/>
        </p:nvSpPr>
        <p:spPr>
          <a:xfrm>
            <a:off x="7772400" y="-914400"/>
            <a:ext cx="2742480" cy="2742480"/>
          </a:xfrm>
          <a:prstGeom prst="ellipse">
            <a:avLst/>
          </a:prstGeom>
          <a:solidFill>
            <a:srgbClr val="5EEAD4">
              <a:alpha val="20000"/>
            </a:srgbClr>
          </a:solidFill>
          <a:ln w="12700">
            <a:solidFill>
              <a:srgbClr val="5EE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548640" y="45720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REFLECTION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548640" y="77724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배운 점과 소감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548640" y="17373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WHAT I LEARNED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548640" y="2093400"/>
            <a:ext cx="4114080" cy="20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데이터 조작 → 렌더링 패턴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DOM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을 직접 조작하지 않고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데이터를 바꾸고 다시 그리는 흐름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인덱스 기반 배열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-DOM 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매핑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가변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ID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로 배열 객체와 화면 요소를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1:1 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연결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삼항 연산자로 선언적 렌더링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if/else 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분기 없이 템플릿 리터럴 안에서 상태 →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UI 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매핑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공식 문서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자료 조사를 통한 문제 해결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trim, outerHTML, 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가변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ID 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등 막힌 지점마다 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MDN·</a:t>
            </a:r>
            <a:r>
              <a:rPr lang="ko-KR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웹 자료를 찾아 적용</a:t>
            </a: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4846320" y="17373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REFLECTION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4846320" y="2057400"/>
            <a:ext cx="4114080" cy="20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강의에서 기능을 배웠다면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이번 실습을 통해 </a:t>
            </a:r>
            <a:r>
              <a:rPr lang="ko-K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기능을 조화하는 방법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에 대해 고민하게 됨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호출되는 함수들의 결합도를 억제하고 응집도를 높이는 방법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함수의 기능을 명확히 정리하는 과정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그리고 막히는 부분에서 바로 답을 찾기보다 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MDN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공식 문서를 탐색하며 아는 것을 늘려가는 경험이 인상깊었음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처음에는 기능을 하나씩 만들어 붙이는 느낌이었는데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점점 </a:t>
            </a: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todos </a:t>
            </a:r>
            <a:r>
              <a:rPr lang="ko-KR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배열이 모든 기능을 지탱하는 뼈대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가 되어 있었음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배열을 바꾸고 다시 그리는 흐름을 한 번 정하니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추가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완료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수정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삭제가 모두 같은 길을 따라가게 됨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일관된 흐름을 유지하면서 기능을 확장해나가는 과정이 가장 어려웠고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ko-KR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동시에 가장 많이 배운 부분이었음</a:t>
            </a: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548640" y="4526280"/>
            <a:ext cx="36000" cy="410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" tIns="45000" rIns="18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731520" y="4526280"/>
            <a:ext cx="8137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REPOSITORY  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1"/>
              </a:rPr>
              <a:t>github.com/Pyrite9/todo-list-js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LIVE DEMO    </a:t>
            </a: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2"/>
              </a:rPr>
              <a:t>pyrite9.github.io/todo-list-js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2026-05-21T09:13:07Z</dcterms:created>
  <dc:creator>학번_이름</dc:creator>
  <dc:description/>
  <dc:language>ko-KR</dc:language>
  <cp:lastModifiedBy/>
  <dcterms:modified xsi:type="dcterms:W3CDTF">2026-05-21T20:55:53Z</dcterms:modified>
  <cp:revision>3</cp:revision>
  <dc:subject>PptxGenJS Presentation</dc:subject>
  <dc:title>todo-list-js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